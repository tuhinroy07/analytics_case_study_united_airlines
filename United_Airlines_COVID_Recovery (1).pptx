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3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0233F"/>
                </a:solidFill>
                <a:latin typeface="Arial"/>
              </a:rPr>
              <a:t>Cumulative Cargo-Only Flights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Cargo-Only Flights (000s)</c:v>
                </c:pt>
              </c:strCache>
            </c:strRef>
          </c:tx>
          <c:spPr>
            <a:solidFill>
              <a:srgbClr val="C997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Aug '20</c:v>
                  </c:pt>
                  <c:pt idx="1">
                    <c:v>Nov '20</c:v>
                  </c:pt>
                  <c:pt idx="2">
                    <c:v>Mar '21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6.8</c:v>
                </c:pt>
                <c:pt idx="2">
                  <c:v>13.4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5F9"/>
        </a:solidFill>
        <a:ln>
          <a:noFill/>
        </a:ln>
        <a:effectLst/>
      </c:spPr>
    </c:plotArea>
    <c:plotVisOnly val="1"/>
    <c:dispBlanksAs val="span"/>
  </c:chart>
  <c:spPr>
    <a:solidFill>
      <a:srgbClr val="F3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3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0233F"/>
                </a:solidFill>
                <a:latin typeface="Arial"/>
              </a:rPr>
              <a:t>Annual Operating Revenue ($B) — +274%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($B)</c:v>
                </c:pt>
              </c:strCache>
            </c:strRef>
          </c:tx>
          <c:spPr>
            <a:solidFill>
              <a:srgbClr val="B2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3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7A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FY2020</c:v>
                  </c:pt>
                  <c:pt idx="1">
                    <c:v>FY2023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15.35</c:v>
                </c:pt>
                <c:pt idx="1">
                  <c:v>57.43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3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3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0233F"/>
                </a:solidFill>
                <a:latin typeface="Arial"/>
              </a:rPr>
              <a:t>Net Income Margin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Margin (%)</c:v>
                </c:pt>
              </c:strCache>
            </c:strRef>
          </c:tx>
          <c:spPr>
            <a:solidFill>
              <a:srgbClr val="B2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7A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FY2020</c:v>
                  </c:pt>
                  <c:pt idx="1">
                    <c:v>FY2023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-46</c:v>
                </c:pt>
                <c:pt idx="1">
                  <c:v>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C9972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CORPORATE EXCELLENCE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Airlines: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 Crisis to Recovery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&amp; Global Logistics Operations Study — Strategic Management Case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solidFill>
            <a:srgbClr val="E8C878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Crisis: 2020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2022–2023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5056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$43.26B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" y="5733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(FY19)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5056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+6.9%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474720" y="5733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MARGIN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2648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26480" y="5056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84.6%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17920" y="5733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LOAD FACTOR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86968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69680" y="5056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-$33M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961120" y="5733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CASH BURN / DAY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Holdings, Inc.  ·  Chicago, IL  ·  Mainline Fleet: 800+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demand collapse to a full-year profitability turnaround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463040"/>
            <a:ext cx="0" cy="4773168"/>
          </a:xfrm>
          <a:prstGeom prst="line">
            <a:avLst/>
          </a:prstGeom>
          <a:noFill/>
          <a:ln w="3810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399032"/>
            <a:ext cx="201168" cy="201168"/>
          </a:xfrm>
          <a:prstGeom prst="ellipse">
            <a:avLst/>
          </a:prstGeom>
          <a:solidFill>
            <a:srgbClr val="C99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2984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2710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Collapse Post-Lockdown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volumes drop 95% overnight; payroll pressure mounts to protect crews and staff.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9536" y="2240280"/>
            <a:ext cx="201168" cy="201168"/>
          </a:xfrm>
          <a:prstGeom prst="ellipse">
            <a:avLst/>
          </a:prstGeom>
          <a:solidFill>
            <a:srgbClr val="C99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13969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 2020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80160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Crunch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4140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cash burn peaks near $33M as rivals begin retiring fleets to stop losses.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3081528"/>
            <a:ext cx="201168" cy="201168"/>
          </a:xfrm>
          <a:prstGeom prst="ellipse">
            <a:avLst/>
          </a:prstGeom>
          <a:solidFill>
            <a:srgbClr val="C99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9809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Intervention Begins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2552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multi-system data diagnostic across booking, cargo, loyalty, and maintenance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" y="3922776"/>
            <a:ext cx="201168" cy="201168"/>
          </a:xfrm>
          <a:prstGeom prst="ellipse">
            <a:avLst/>
          </a:prstGeom>
          <a:solidFill>
            <a:srgbClr val="C99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38221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Aug–Oct 2020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8016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Rollout (Phase 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0965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Asset-hoarding, network re-segmentation, and the 7-Day Mid-Air Cargo Pivot deployed.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" y="4764024"/>
            <a:ext cx="201168" cy="201168"/>
          </a:xfrm>
          <a:prstGeom prst="ellipse">
            <a:avLst/>
          </a:prstGeom>
          <a:solidFill>
            <a:srgbClr val="C99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663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2020–Mar 2021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80160" y="4636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&amp; Freight Turnaround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937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13,400+ cargo-only flights; cargo revenue tops $2B, cushioning passenger losses.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9536" y="5605272"/>
            <a:ext cx="201168" cy="201168"/>
          </a:xfrm>
          <a:prstGeom prst="ellipse">
            <a:avLst/>
          </a:prstGeom>
          <a:solidFill>
            <a:srgbClr val="C99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5504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2022–2023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80160" y="5477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Profitability Achieved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779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rebounds to $57.43B as the intact widebody fleet captures global market share.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PIVOT — QUICK STATS</a:t>
            </a:r>
            <a:endParaRPr lang="en-US" sz="12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675120" y="2011680"/>
          <a:ext cx="46634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6720840" y="4434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$2B+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2960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revenue generated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72084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+400%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822960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Widebody dry-ice workflow expansion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Interventions Deployed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 that protected operating capacity through the downturn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97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379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733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Asset Segregation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MileagePlus into a standalone subsidiary used as debt collateral.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3182112"/>
            <a:ext cx="4709160" cy="384048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1821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$6.8B in private capital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141732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69164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97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8379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6733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Underbelly Capacity &amp; Cold-Chain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Reconfigured idle widebody holds for premium freight within 7 days.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37960" y="3182112"/>
            <a:ext cx="4709160" cy="384048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7" name="Text 13"/>
          <p:cNvSpPr/>
          <p:nvPr/>
        </p:nvSpPr>
        <p:spPr>
          <a:xfrm>
            <a:off x="6675120" y="31821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13,400+ vaccine-logistics flights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06908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97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325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Counter-Cyclical Asset "Hoarding"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68680" y="4983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widebodies in high-readiness storage while rivals downsized.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68680" y="5833872"/>
            <a:ext cx="4709160" cy="384048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24" name="Text 19"/>
          <p:cNvSpPr/>
          <p:nvPr/>
        </p:nvSpPr>
        <p:spPr>
          <a:xfrm>
            <a:off x="1005840" y="58338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active transatlantic destinations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17920" y="406908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92240" y="434340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972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48970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69480" y="4325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"Up-Gauging" Optimization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537960" y="4983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shifted capacity from regional jets to mainline aircraft.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537960" y="5833872"/>
            <a:ext cx="4709160" cy="384048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31" name="Text 25"/>
          <p:cNvSpPr/>
          <p:nvPr/>
        </p:nvSpPr>
        <p:spPr>
          <a:xfrm>
            <a:off x="6675120" y="58338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Seats/departure up 40%, CASM down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After: Performance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crisis low vs. FY2023 recovery snapshot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463040"/>
          <a:ext cx="37033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28016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graphicFrame>
        <p:nvGraphicFramePr>
          <p:cNvPr id="7" name="Chart 1" descr=""/>
          <p:cNvGraphicFramePr/>
          <p:nvPr/>
        </p:nvGraphicFramePr>
        <p:xfrm>
          <a:off x="5120640" y="1463040"/>
          <a:ext cx="3246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915400" y="128016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0233F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CAPITAL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1,100+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144000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jets (from ~800)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914400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$26B+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1440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capital raised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144000" y="3255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9144000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transatlantic routes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109960" cy="1965960"/>
        </p:xfrm>
        <a:graphic>
          <a:graphicData uri="http://schemas.openxmlformats.org/drawingml/2006/table">
            <a:tbl>
              <a:tblPr/>
              <a:tblGrid>
                <a:gridCol w="3657600"/>
                <a:gridCol w="3726180"/>
                <a:gridCol w="372618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Seats / Departure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baseline (regional-heavy)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 (mainline up-gauged)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Transatlantic 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Retrenched / suspended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destinations (industry leader)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insolvency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$26B+ raised, order book intact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Strategic Response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United hoarded capacity, rivals cut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Liquidation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domestic rivals permanently retired entire long-haul widebody fleets to cut overhead immediately.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916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Retrenchment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26974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international carriers early-retired legacy fleets to protect short-term liquidity.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38160" y="141732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916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Reduction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12480" y="26974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playbooks centered on shrinking footprint, leaving carriers resource-constrained when demand exploded.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11109960" cy="1691640"/>
          </a:xfrm>
          <a:prstGeom prst="roundRect">
            <a:avLst>
              <a:gd name="adj" fmla="val 4865"/>
            </a:avLst>
          </a:prstGeom>
          <a:solidFill>
            <a:srgbClr val="10233F"/>
          </a:solidFill>
          <a:ln/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6868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UNITED'S DIFFERENTIATED PATH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retiring aircraft, United kept its widebody fleet in high-readiness storage — absorbing holding costs so it could redeploy instantly the moment international travel demand returned, capturing market share resource-constrained rivals could not contest.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C9972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886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Strategic Lesson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wasn't built on cost-cutting — it was built on bold asset protection and operational pivots.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34747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textbook response was to shrink and survive, United protected operating capacity through the downturn.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343400"/>
            <a:ext cx="292608" cy="29260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42519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Underbelly cargo space, un-retired widebody aircraft, and segregated loyalty data became critical safety nets.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120640"/>
            <a:ext cx="292608" cy="29260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5029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heavy-asset industries, turnaround value peaks when capacity is preserved at market lows — ready to capture demand the instant it returns.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SEC disclosures · Asset-strategy mapping · Corporate finance records · Macroeconomic projections. Figures are illustrative case-study estimates.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Airlines: COVID Crisis to Recovery</dc:title>
  <dc:subject>PptxGenJS Presentation</dc:subject>
  <dc:creator>Centre of Corporate Excellence</dc:creator>
  <cp:lastModifiedBy>Centre of Corporate Excellence</cp:lastModifiedBy>
  <cp:revision>1</cp:revision>
  <dcterms:created xsi:type="dcterms:W3CDTF">2026-07-03T09:45:40Z</dcterms:created>
  <dcterms:modified xsi:type="dcterms:W3CDTF">2026-07-03T09:45:40Z</dcterms:modified>
</cp:coreProperties>
</file>